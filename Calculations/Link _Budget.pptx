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2" r:id="rId4"/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9EC7A-D2B1-0BE1-97F9-F1A8028FFD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D5244-1297-41FF-DD05-F6BCE6133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86686-31B4-1B6B-154D-06758BD1C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000BD-5DBF-7112-3301-6FDE27BD1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52740-8A17-3DDA-48BC-55AEFF4CD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703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6BA53-E3A1-1649-5E0A-E8F2D30BC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9FD7D-8AD8-940A-E3EE-85946AED5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D7858-0226-5B5E-0048-5CF19A73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15FB6-F477-9DFD-10F8-F6EBB645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FBBDE0-773F-0435-FEBA-DDEFCCAC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010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173D4-6577-DFFD-2451-EFCC3F493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B9230-AC72-2A3A-D36B-57802729E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E2603-9C3E-8CCF-BABF-527EF3F3E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8FB4E-7FD0-2998-0812-61CA5C07C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1E369-6ACC-F588-8BC8-C0D9F3E3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345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B8A4D-32AD-2B76-4C91-9D152BAD9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991AE-AD25-8A09-4A56-7AD2604D1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65A65-891E-71CB-3F23-6A5D6FD7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33AE0-D10B-2219-7366-0CE7DA15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7BD045-2B40-4EDD-77D2-4C54196D0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9DFDB-9058-C76C-D8C4-275B03DF6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25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1F548-2E80-E62E-4618-A4307FEA2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4D5AA-A7F6-ACF3-43AB-68865D1E0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2E089-5CC9-769E-F401-8FEB99247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12DD7-2B94-5E42-1AFF-B5234D37B6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27B5D-3C99-249A-1554-00F08A513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609B60-8A31-A439-89A9-04EEC44B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043A13-ED93-11E8-7F8E-F1118AF79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2F7FA4-9F6B-196C-92A6-34880D84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541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BADEA-7695-AC24-C3FD-5E3C6667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D9A3F9-86A9-D97F-5A84-7F7F9C05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4FCEF-C915-19F3-07ED-43AC1839F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3FC603-8B37-22BA-A9FB-1DA6F53B2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790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A3B110-ECE3-7F24-AB9F-B61F4285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4F34BA-11DD-3C7F-7CA0-EEDFE28E2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67037-75D4-1686-24B2-4526832A6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80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60F8D-44DA-6025-9EFD-76F82DBBF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6032-3B30-C7E3-BC6A-5D6F05E11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FFF92-3C33-9530-506E-76D30188A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AB7D4-21C9-B6F8-D857-E5FEBA6DF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0AE4AE-EAA5-8E97-386B-A847364AD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FF869-A550-2F12-DED1-BD4F2A19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640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CC08-3AEC-E0FB-627D-1D629B49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ED086F-9F3E-9177-0E6A-C6E414563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9E7901-C738-2837-7721-E20F55898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68681E-A7E3-C26A-1C23-818D6B721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E382C-03CB-0E25-29C8-1080CDF6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A34794-40D7-0FD6-D6A9-25C6550BA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617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2892D-32AF-78A8-9F2E-EA8C3C5A7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B37BA-5C96-10D1-3757-6AA394A4B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BC33-4F7C-254A-BD9C-C57D721A4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845244-3374-8348-F9CF-28869200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385009-03A3-57A9-E337-9A0F0D080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691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0C537-7543-ECEF-1F19-5A5FFE4F9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09C27B-7E8A-F21F-D69A-70DAAFA2E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87017-C2AE-A5D3-D8BE-0B7E5CA23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620-3FFE-B1CB-4F7B-C79E041D2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251369-F2C5-D806-82F1-1878F922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1012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A5C6D-4666-3428-9048-6D3365A6D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CE94A-C102-14A5-5F60-5CEAA5C13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A85CC-4893-CD29-BE38-58C4DA7063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7B0D94-7858-4B62-BAF9-3EAD05BE498F}" type="datetimeFigureOut">
              <a:rPr lang="en-IN" smtClean="0"/>
              <a:t>19-07-2026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32FBD-19FE-B902-10AB-2C89A28E3D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5E0FE-6E02-9DF7-1DB4-4FB9BEBC9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3AF50-2370-4BEA-8EC2-0DA52F08D9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2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729CDF5-A482-18AB-237A-E8596E40D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901" y="2168783"/>
            <a:ext cx="5725324" cy="695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BD94F6A-89EB-8179-D87D-CF3B16716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203" y="1138659"/>
            <a:ext cx="4778138" cy="4778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6474FE-5879-8001-168C-CEA225DDD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01" y="3365656"/>
            <a:ext cx="5973009" cy="3429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8A5A4ED-FC3F-76FE-523E-4544D0A674FB}"/>
              </a:ext>
            </a:extLst>
          </p:cNvPr>
          <p:cNvSpPr txBox="1"/>
          <p:nvPr/>
        </p:nvSpPr>
        <p:spPr>
          <a:xfrm>
            <a:off x="1424203" y="5026017"/>
            <a:ext cx="4984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Link Margin: Difference between received power and receiver sensitivity; positive margin means reliable communication.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444333-C0FB-63FD-DE79-07EFBD30CFEE}"/>
              </a:ext>
            </a:extLst>
          </p:cNvPr>
          <p:cNvSpPr txBox="1"/>
          <p:nvPr/>
        </p:nvSpPr>
        <p:spPr>
          <a:xfrm>
            <a:off x="1424203" y="4261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Link Margin = </a:t>
            </a:r>
            <a:r>
              <a:rPr lang="en-IN" dirty="0" err="1"/>
              <a:t>Pr</a:t>
            </a:r>
            <a:r>
              <a:rPr lang="en-IN" dirty="0"/>
              <a:t> − Sensitivity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94CDAC-B250-B309-D222-4158F9A95021}"/>
              </a:ext>
            </a:extLst>
          </p:cNvPr>
          <p:cNvSpPr txBox="1"/>
          <p:nvPr/>
        </p:nvSpPr>
        <p:spPr>
          <a:xfrm>
            <a:off x="7246374" y="4662185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Pt – Transmit power (dBm)</a:t>
            </a:r>
          </a:p>
          <a:p>
            <a:r>
              <a:rPr lang="en-IN" dirty="0"/>
              <a:t>• Gt, Gr – Antenna gains (</a:t>
            </a:r>
            <a:r>
              <a:rPr lang="en-IN" dirty="0" err="1"/>
              <a:t>dBi</a:t>
            </a:r>
            <a:r>
              <a:rPr lang="en-IN" dirty="0"/>
              <a:t>)</a:t>
            </a:r>
          </a:p>
          <a:p>
            <a:r>
              <a:rPr lang="en-IN" dirty="0"/>
              <a:t>• FSPL – Free-space path loss</a:t>
            </a:r>
          </a:p>
          <a:p>
            <a:r>
              <a:rPr lang="en-IN" dirty="0"/>
              <a:t>• Losses – Cable, connectors, mismatch, fade</a:t>
            </a:r>
          </a:p>
          <a:p>
            <a:r>
              <a:rPr lang="en-IN" dirty="0"/>
              <a:t>• Sensitivity – Receiver minimum detectable power</a:t>
            </a:r>
          </a:p>
        </p:txBody>
      </p:sp>
    </p:spTree>
    <p:extLst>
      <p:ext uri="{BB962C8B-B14F-4D97-AF65-F5344CB8AC3E}">
        <p14:creationId xmlns:p14="http://schemas.microsoft.com/office/powerpoint/2010/main" val="3524809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D7B50-517D-291A-EC05-EB08838C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99A13D-347C-4C20-04BB-DCD82803C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72" y="713996"/>
            <a:ext cx="943107" cy="54300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8D64F5-E3F1-D8A1-A351-CA179F0FB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1090" y="1085523"/>
            <a:ext cx="5401429" cy="46869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5B6059-D5C1-AB3D-665C-CC3D8F068D42}"/>
              </a:ext>
            </a:extLst>
          </p:cNvPr>
          <p:cNvSpPr txBox="1"/>
          <p:nvPr/>
        </p:nvSpPr>
        <p:spPr>
          <a:xfrm>
            <a:off x="4670321" y="521110"/>
            <a:ext cx="66367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VHF Antenna     (at  </a:t>
            </a:r>
            <a:r>
              <a:rPr lang="en-IN" sz="2200" dirty="0" err="1"/>
              <a:t>Cubesat</a:t>
            </a:r>
            <a:r>
              <a:rPr lang="en-IN" sz="2200" dirty="0"/>
              <a:t> &amp; Ground Station)</a:t>
            </a:r>
          </a:p>
        </p:txBody>
      </p:sp>
    </p:spTree>
    <p:extLst>
      <p:ext uri="{BB962C8B-B14F-4D97-AF65-F5344CB8AC3E}">
        <p14:creationId xmlns:p14="http://schemas.microsoft.com/office/powerpoint/2010/main" val="115052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8412-F74D-C1B6-5362-834586BF5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FFA83-12CF-653B-2B29-C41DF663F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409" y="3222310"/>
            <a:ext cx="5806380" cy="4821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52304C-A2CD-4F60-AA1A-595EEF2FE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937" y="332943"/>
            <a:ext cx="2210108" cy="30960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A70369-50B7-D689-785D-150E6B392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145" y="1386348"/>
            <a:ext cx="6465987" cy="164162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6DA5A3-9711-DE28-E083-E4660B28CF59}"/>
              </a:ext>
            </a:extLst>
          </p:cNvPr>
          <p:cNvSpPr txBox="1"/>
          <p:nvPr/>
        </p:nvSpPr>
        <p:spPr>
          <a:xfrm>
            <a:off x="661005" y="3882035"/>
            <a:ext cx="572237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fkGroteskNeue"/>
              </a:rPr>
              <a:t>        FSPL CALCULATION (145MHz VHF)</a:t>
            </a:r>
          </a:p>
          <a:p>
            <a:pPr algn="ctr"/>
            <a:endParaRPr lang="en-IN" sz="2000" dirty="0"/>
          </a:p>
          <a:p>
            <a:r>
              <a:rPr lang="en-IN" dirty="0"/>
              <a:t>LFSPL = 32.44 + 20log(145) + 20log(30)</a:t>
            </a:r>
          </a:p>
          <a:p>
            <a:r>
              <a:rPr lang="en-IN" dirty="0"/>
              <a:t>TOTAL FSPL = 32.44 + 23.223 + 29.542 = 105.205 dB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455F31-4C09-8F85-7759-68197D990C2E}"/>
              </a:ext>
            </a:extLst>
          </p:cNvPr>
          <p:cNvSpPr txBox="1"/>
          <p:nvPr/>
        </p:nvSpPr>
        <p:spPr>
          <a:xfrm>
            <a:off x="6907164" y="4007256"/>
            <a:ext cx="509802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2000" dirty="0"/>
              <a:t>      FSPL CALCULATION (433MHz LoRa)</a:t>
            </a:r>
          </a:p>
          <a:p>
            <a:endParaRPr lang="en-IN" dirty="0"/>
          </a:p>
          <a:p>
            <a:r>
              <a:rPr lang="en-IN" sz="1800" dirty="0"/>
              <a:t>LFSPL = 32.44 + 20log(433) + 20log(30)</a:t>
            </a:r>
          </a:p>
          <a:p>
            <a:r>
              <a:rPr lang="en-IN" sz="1800" dirty="0"/>
              <a:t>TOTAL FSPL = 32.44 + 52.730 + 29.542 = 114.712 dB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A3612-D05A-6328-4781-C952FC62FC43}"/>
              </a:ext>
            </a:extLst>
          </p:cNvPr>
          <p:cNvSpPr txBox="1"/>
          <p:nvPr/>
        </p:nvSpPr>
        <p:spPr>
          <a:xfrm>
            <a:off x="3954812" y="423613"/>
            <a:ext cx="47194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Lora Antenna for Uplink and Downlink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9E39F9-E79A-5FDA-221C-894F3F76C4C1}"/>
              </a:ext>
            </a:extLst>
          </p:cNvPr>
          <p:cNvSpPr txBox="1"/>
          <p:nvPr/>
        </p:nvSpPr>
        <p:spPr>
          <a:xfrm>
            <a:off x="661005" y="5321526"/>
            <a:ext cx="572237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fkGroteskNeue"/>
              </a:rPr>
              <a:t>        FSPL CALCULATION (445MHz UHF)</a:t>
            </a:r>
          </a:p>
          <a:p>
            <a:pPr algn="ctr"/>
            <a:endParaRPr lang="en-IN" sz="2000" dirty="0"/>
          </a:p>
          <a:p>
            <a:r>
              <a:rPr lang="en-IN" dirty="0"/>
              <a:t>LFSPL = 32.44 + 20log(430) + 20log(30)</a:t>
            </a:r>
          </a:p>
          <a:p>
            <a:r>
              <a:rPr lang="en-IN" dirty="0"/>
              <a:t>TOTAL FSPL = 32.44 + 52.967 + 29.542 = 114.95 dB</a:t>
            </a:r>
          </a:p>
        </p:txBody>
      </p:sp>
    </p:spTree>
    <p:extLst>
      <p:ext uri="{BB962C8B-B14F-4D97-AF65-F5344CB8AC3E}">
        <p14:creationId xmlns:p14="http://schemas.microsoft.com/office/powerpoint/2010/main" val="426042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CF6D3-6C0F-4797-8E0F-1C0AD77A3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FD22819-FE3C-6A27-4E5E-A28614A81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719800"/>
              </p:ext>
            </p:extLst>
          </p:nvPr>
        </p:nvGraphicFramePr>
        <p:xfrm>
          <a:off x="8350045" y="1529957"/>
          <a:ext cx="3389670" cy="4511040"/>
        </p:xfrm>
        <a:graphic>
          <a:graphicData uri="http://schemas.openxmlformats.org/drawingml/2006/table">
            <a:tbl>
              <a:tblPr/>
              <a:tblGrid>
                <a:gridCol w="1129890">
                  <a:extLst>
                    <a:ext uri="{9D8B030D-6E8A-4147-A177-3AD203B41FA5}">
                      <a16:colId xmlns:a16="http://schemas.microsoft.com/office/drawing/2014/main" val="3291627272"/>
                    </a:ext>
                  </a:extLst>
                </a:gridCol>
                <a:gridCol w="1129890">
                  <a:extLst>
                    <a:ext uri="{9D8B030D-6E8A-4147-A177-3AD203B41FA5}">
                      <a16:colId xmlns:a16="http://schemas.microsoft.com/office/drawing/2014/main" val="468919664"/>
                    </a:ext>
                  </a:extLst>
                </a:gridCol>
                <a:gridCol w="1129890">
                  <a:extLst>
                    <a:ext uri="{9D8B030D-6E8A-4147-A177-3AD203B41FA5}">
                      <a16:colId xmlns:a16="http://schemas.microsoft.com/office/drawing/2014/main" val="23161553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Parameter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Value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162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TX Power (Pt)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100mW SX1278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+20.00 dBm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660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CubeSat Ant (Gt)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Sharvi Lora 433MHz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+3.60 dBi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01952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Free Space Loss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30km @ 433MHz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-114.71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083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Ground Ant (Gr)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Sharvi Lora 433MHz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+3.60 dBi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44579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Misc Losses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Cables/SWR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-1.0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581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Received Power (Pr)</a:t>
                      </a: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-90.51 dBm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4086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RTL-SDR Sensitivity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-137 dBm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636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LINK MARGIN</a:t>
                      </a: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+46.49 dB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894214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AA30FB4-8ADE-9DDE-BFC7-102DE0730A20}"/>
              </a:ext>
            </a:extLst>
          </p:cNvPr>
          <p:cNvSpPr txBox="1"/>
          <p:nvPr/>
        </p:nvSpPr>
        <p:spPr>
          <a:xfrm>
            <a:off x="8466803" y="721811"/>
            <a:ext cx="31561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400" b="0" i="0" dirty="0">
                <a:effectLst/>
                <a:latin typeface="fkGrotesk"/>
              </a:rPr>
              <a:t>LoRa Antenna 433Mhz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E12B38B-52B9-B435-7645-26E0800D0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58009"/>
              </p:ext>
            </p:extLst>
          </p:nvPr>
        </p:nvGraphicFramePr>
        <p:xfrm>
          <a:off x="4229100" y="1529956"/>
          <a:ext cx="3733800" cy="4511036"/>
        </p:xfrm>
        <a:graphic>
          <a:graphicData uri="http://schemas.openxmlformats.org/drawingml/2006/table">
            <a:tbl>
              <a:tblPr/>
              <a:tblGrid>
                <a:gridCol w="1244600">
                  <a:extLst>
                    <a:ext uri="{9D8B030D-6E8A-4147-A177-3AD203B41FA5}">
                      <a16:colId xmlns:a16="http://schemas.microsoft.com/office/drawing/2014/main" val="122310810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2750492643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528402321"/>
                    </a:ext>
                  </a:extLst>
                </a:gridCol>
              </a:tblGrid>
              <a:tr h="3703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Parameter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Value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297941"/>
                  </a:ext>
                </a:extLst>
              </a:tr>
              <a:tr h="3703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TX Power (Pt)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2W SA818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+33.01 dBm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33805"/>
                  </a:ext>
                </a:extLst>
              </a:tr>
              <a:tr h="605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CubeSat Ant (Gt)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NA701 Quartz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+3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110699"/>
                  </a:ext>
                </a:extLst>
              </a:tr>
              <a:tr h="605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Free Space Loss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30km @ 445MHz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-</a:t>
                      </a:r>
                      <a:r>
                        <a:rPr lang="en-IN" sz="1400" dirty="0"/>
                        <a:t>114.95</a:t>
                      </a:r>
                      <a:r>
                        <a:rPr lang="en-IN" sz="1400" dirty="0">
                          <a:effectLst/>
                        </a:rPr>
                        <a:t>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585764"/>
                  </a:ext>
                </a:extLst>
              </a:tr>
              <a:tr h="605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Ground Ant (Gr)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NA701 Quartz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+3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865944"/>
                  </a:ext>
                </a:extLst>
              </a:tr>
              <a:tr h="3703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Misc Losses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Cables/Polar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-1.0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94207"/>
                  </a:ext>
                </a:extLst>
              </a:tr>
              <a:tr h="605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Received Power (</a:t>
                      </a:r>
                      <a:r>
                        <a:rPr lang="en-IN" sz="1400" b="1" dirty="0" err="1">
                          <a:effectLst/>
                        </a:rPr>
                        <a:t>Pr</a:t>
                      </a:r>
                      <a:r>
                        <a:rPr lang="en-IN" sz="1400" b="1" dirty="0">
                          <a:effectLst/>
                        </a:rPr>
                        <a:t>)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-74.79 dBm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30562"/>
                  </a:ext>
                </a:extLst>
              </a:tr>
              <a:tr h="6059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RTL-SDR Sensitivity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-110 dBm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29654"/>
                  </a:ext>
                </a:extLst>
              </a:tr>
              <a:tr h="3703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LINK MARGIN</a:t>
                      </a: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+35.21 dB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1927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937DD62-9EAE-1458-DE7A-981A73FF7505}"/>
              </a:ext>
            </a:extLst>
          </p:cNvPr>
          <p:cNvSpPr txBox="1"/>
          <p:nvPr/>
        </p:nvSpPr>
        <p:spPr>
          <a:xfrm>
            <a:off x="4572001" y="721810"/>
            <a:ext cx="42868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dirty="0">
                <a:latin typeface="fkGrotesk"/>
              </a:rPr>
              <a:t>U</a:t>
            </a:r>
            <a:r>
              <a:rPr lang="en-US" sz="2400" b="0" i="0" dirty="0">
                <a:effectLst/>
                <a:latin typeface="fkGrotesk"/>
              </a:rPr>
              <a:t>HF  (NA701 Antenna)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16CC2C2-4D48-371D-3A87-DFDF2E5142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778491"/>
              </p:ext>
            </p:extLst>
          </p:nvPr>
        </p:nvGraphicFramePr>
        <p:xfrm>
          <a:off x="530942" y="1529955"/>
          <a:ext cx="3311013" cy="4511037"/>
        </p:xfrm>
        <a:graphic>
          <a:graphicData uri="http://schemas.openxmlformats.org/drawingml/2006/table">
            <a:tbl>
              <a:tblPr/>
              <a:tblGrid>
                <a:gridCol w="1103671">
                  <a:extLst>
                    <a:ext uri="{9D8B030D-6E8A-4147-A177-3AD203B41FA5}">
                      <a16:colId xmlns:a16="http://schemas.microsoft.com/office/drawing/2014/main" val="122310810"/>
                    </a:ext>
                  </a:extLst>
                </a:gridCol>
                <a:gridCol w="1103671">
                  <a:extLst>
                    <a:ext uri="{9D8B030D-6E8A-4147-A177-3AD203B41FA5}">
                      <a16:colId xmlns:a16="http://schemas.microsoft.com/office/drawing/2014/main" val="2750492643"/>
                    </a:ext>
                  </a:extLst>
                </a:gridCol>
                <a:gridCol w="1103671">
                  <a:extLst>
                    <a:ext uri="{9D8B030D-6E8A-4147-A177-3AD203B41FA5}">
                      <a16:colId xmlns:a16="http://schemas.microsoft.com/office/drawing/2014/main" val="528402321"/>
                    </a:ext>
                  </a:extLst>
                </a:gridCol>
              </a:tblGrid>
              <a:tr h="351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Parameter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Value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297941"/>
                  </a:ext>
                </a:extLst>
              </a:tr>
              <a:tr h="351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TX Power (Pt)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2W SA818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+33.01 dBm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33805"/>
                  </a:ext>
                </a:extLst>
              </a:tr>
              <a:tr h="575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CubeSat Ant (Gt)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dirty="0">
                          <a:effectLst/>
                        </a:rPr>
                        <a:t>NA701 Quartz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+2.15 dBi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9110699"/>
                  </a:ext>
                </a:extLst>
              </a:tr>
              <a:tr h="575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Free Space Loss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30km @ 145MHz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-105.20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585764"/>
                  </a:ext>
                </a:extLst>
              </a:tr>
              <a:tr h="575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Ground Ant (Gr)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NA701 Quartz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+2.15 dBi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6865944"/>
                  </a:ext>
                </a:extLst>
              </a:tr>
              <a:tr h="35192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Misc Losses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Cables/Polar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-1.0 dB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294207"/>
                  </a:ext>
                </a:extLst>
              </a:tr>
              <a:tr h="575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Received Power (Pr)</a:t>
                      </a: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>
                          <a:effectLst/>
                        </a:rPr>
                        <a:t>-71.90 dBm</a:t>
                      </a: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630562"/>
                  </a:ext>
                </a:extLst>
              </a:tr>
              <a:tr h="575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RTL-SDR Sensitivity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>
                          <a:effectLst/>
                        </a:rPr>
                        <a:t>-110 dBm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29654"/>
                  </a:ext>
                </a:extLst>
              </a:tr>
              <a:tr h="57587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LINK MARGIN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40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effectLst/>
                        </a:rPr>
                        <a:t>+38.10 dB</a:t>
                      </a:r>
                      <a:endParaRPr lang="en-IN" sz="1400" dirty="0">
                        <a:effectLst/>
                      </a:endParaRP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2192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939EE8-F728-897A-605F-881E0E8E08A0}"/>
              </a:ext>
            </a:extLst>
          </p:cNvPr>
          <p:cNvSpPr txBox="1"/>
          <p:nvPr/>
        </p:nvSpPr>
        <p:spPr>
          <a:xfrm>
            <a:off x="752784" y="721809"/>
            <a:ext cx="33110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2400" b="0" i="0" dirty="0">
                <a:effectLst/>
                <a:latin typeface="fkGrotesk"/>
              </a:rPr>
              <a:t>VHF   (NA701 Antenna)</a:t>
            </a:r>
          </a:p>
        </p:txBody>
      </p:sp>
    </p:spTree>
    <p:extLst>
      <p:ext uri="{BB962C8B-B14F-4D97-AF65-F5344CB8AC3E}">
        <p14:creationId xmlns:p14="http://schemas.microsoft.com/office/powerpoint/2010/main" val="2299908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963</TotalTime>
  <Words>391</Words>
  <Application>Microsoft Office PowerPoint</Application>
  <PresentationFormat>Widescreen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fkGrotesk</vt:lpstr>
      <vt:lpstr>fkGroteskNeue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ARUNKRISHNA P U</dc:creator>
  <cp:lastModifiedBy>ARUNKRISHNA P U</cp:lastModifiedBy>
  <cp:revision>6</cp:revision>
  <dcterms:created xsi:type="dcterms:W3CDTF">2025-12-03T14:25:26Z</dcterms:created>
  <dcterms:modified xsi:type="dcterms:W3CDTF">2026-07-19T12:48:22Z</dcterms:modified>
</cp:coreProperties>
</file>